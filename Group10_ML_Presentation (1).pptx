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52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E8A83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E2761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humidity</c:v>
                </c:pt>
                <c:pt idx="1">
                  <c:v>P (Phosphorus)</c:v>
                </c:pt>
                <c:pt idx="2">
                  <c:v>N (Nitrogen)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0.48</c:v>
                </c:pt>
                <c:pt idx="1">
                  <c:v>0.28999999999999998</c:v>
                </c:pt>
                <c:pt idx="2">
                  <c:v>0.23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8527136"/>
        <c:axId val="208526744"/>
      </c:barChart>
      <c:catAx>
        <c:axId val="2085271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E2761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8526744"/>
        <c:crosses val="autoZero"/>
        <c:auto val="1"/>
        <c:lblAlgn val="ctr"/>
        <c:lblOffset val="100"/>
        <c:noMultiLvlLbl val="1"/>
      </c:catAx>
      <c:valAx>
        <c:axId val="208526744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8892A4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8527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1a81345a-d56f-4adf-b4ef-0052d28d907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5073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435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24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50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88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20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33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952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22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537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03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206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31A45"/>
          </a:solidFill>
          <a:ln w="12700">
            <a:solidFill>
              <a:srgbClr val="131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91440"/>
            <a:ext cx="2560320" cy="2560320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57200"/>
            <a:ext cx="237744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720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CSC1204 · MACHINE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7772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Crop Recommendation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7772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Machine Learning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320040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Predicting the best crop from soil &amp; climate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10  ·  </a:t>
            </a: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Easter 2026 Semester  ·  Uganda Christian University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5029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A — Problem Definition &amp; Dataset Acquisition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A(a) — Problem Statement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0" y="13716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5 marks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68680"/>
            <a:ext cx="41148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6868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374904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200" dirty="0"/>
              <a:t>Optimizing agricultural productivity depends on precise crop-site matching, yet smallholder decision-making remains constrained by the high spatial variability of edaphic and climatic factors. Traditional, intuition-based selection often fails to account for the complex, non-linear interactions between nutrient profiles (N, P, K, pH) and environmental stressors, leading to significant yield gaps and regional food insecurity. There is a critical need for high-accuracy, multivariate machine learning models such as ensemble-based classification frameworks to transform raw environmental data into actionable, site-specific crop suitability insights that enhance precision agriculture outcomes.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68680"/>
            <a:ext cx="4114800" cy="4114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6868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STAKEHOLDERS &amp; OBJECTIVES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417320"/>
            <a:ext cx="54864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41732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</a:t>
            </a:r>
            <a:r>
              <a:rPr lang="en-US" sz="1200" b="1" dirty="0" smtClean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Scientists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56048" y="160020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1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predictive </a:t>
            </a:r>
            <a:r>
              <a:rPr lang="en-US" sz="1100" dirty="0" smtClean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984248"/>
            <a:ext cx="54864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198424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Ministry of Agriculture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56048" y="216712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 agricultural policy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551176"/>
            <a:ext cx="54864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551176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Agricultural NGOs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56048" y="2734056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community food security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6048" y="3118104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56048" y="3300984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703320"/>
            <a:ext cx="3840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Objectives: (1) Build classification model  (2) Compare RF vs DT  (3) Identify key soil features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498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A(b &amp; c) — Dataset Acquisition &amp; Description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0" y="13716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10 marks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19659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804672"/>
            <a:ext cx="1965960" cy="59436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2,200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1325880"/>
            <a:ext cx="196596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 (rows)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804672"/>
            <a:ext cx="19659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804672"/>
            <a:ext cx="1965960" cy="59436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14600" y="1325880"/>
            <a:ext cx="196596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804672"/>
            <a:ext cx="19659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804672"/>
            <a:ext cx="1965960" cy="59436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09160" y="1325880"/>
            <a:ext cx="196596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Numeric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804672"/>
            <a:ext cx="19659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804672"/>
            <a:ext cx="1965960" cy="59436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03720" y="1325880"/>
            <a:ext cx="196596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Crop Classes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1938528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1938528"/>
            <a:ext cx="73152" cy="5669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19385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</a:t>
            </a:r>
            <a:r>
              <a:rPr lang="en-US" sz="1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Atharva Ingle (2020). Crop Recommendation Dataset. Kaggle. </a:t>
            </a:r>
            <a:r>
              <a:rPr lang="en-US" sz="12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kaggle.com/datasets/atharvaingle/crop-recommendation-dataset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2633472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Dictionary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320040" y="2999232"/>
          <a:ext cx="850392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6309360"/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Column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Nitrogen content in soil (kg/ha)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Phosphorous content in soil (kg/ha)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Potassium content in soil (kg/ha)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temperature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float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Average temperature (°C)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humidity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float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Relative humidity (%)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float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Soil pH level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rainfall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float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Annual rainfall (mm)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label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object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TARGET: Recommended crop (22 classes)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498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B(a) — Summary Statistics &amp; Data Cleaning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0" y="13716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6 marks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df.describe() — Descriptive Statistics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20040" y="1115568"/>
          <a:ext cx="8503920" cy="207264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463040"/>
                <a:gridCol w="1463040"/>
                <a:gridCol w="1920240"/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Std Dev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Max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 (Nitrogen)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50.55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36.92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 (Phosphorus)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53.36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32.99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 (Potassium)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48.15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50.65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Temperature (°C)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25.62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5.06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8.83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43.68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Humidity (%)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71.48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22.26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14.26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99.98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6.47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3.50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9.94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Rainfall (mm)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103.46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54.96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20.21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298.56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3639312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3639312"/>
            <a:ext cx="269748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3639312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4023360"/>
            <a:ext cx="25146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df.isna().sum() → all zeros. No imputation required. Dataset is complete.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0" y="3639312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3639312"/>
            <a:ext cx="269748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0" y="3639312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Outlier Removal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91840" y="4023360"/>
            <a:ext cx="25146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Shapiro-Wilk test confirmed non-normal data → IQR method applied. Rows: 2200 → 1846.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80760" y="3639312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80760" y="3639312"/>
            <a:ext cx="269748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3639312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Encoding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72200" y="4023360"/>
            <a:ext cx="25146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column encoded to label_encoded using LabelEncoder (rice=1, maize=2 … coffee=22).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498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B(b,c,d) — EDA Visualizations &amp; Key Insights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0" y="13716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14 marks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73152" cy="12618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9611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Distribution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170432"/>
            <a:ext cx="37490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 crop classes — 100 samples each. Perfectly balanced dataset. No class imbalance issue.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22960"/>
            <a:ext cx="73152" cy="12618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89611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Boxplots (7 features)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170432"/>
            <a:ext cx="37490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Outliers detected in N, P, K, humidity, rainfall. IQR method removed extreme values.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17627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176272"/>
            <a:ext cx="73152" cy="12618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49424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 Heatmap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523744"/>
            <a:ext cx="37490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Humidity, P, N showed strongest correlation with label. K, temperature, ph, rainfall weaker.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17627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176272"/>
            <a:ext cx="73152" cy="12618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249424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Pairplot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523744"/>
            <a:ext cx="37490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Distinct clusters visible for humidity vs N and P vs N — confirms feature separability.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547872"/>
            <a:ext cx="8503920" cy="13533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58444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EDA Insights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No missing values </a:t>
            </a: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dataset is complete  </a:t>
            </a: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Outliers removed via IQR </a:t>
            </a: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(non-normal distribution confirmed by Shapiro-Wilk)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Humidity, P, N </a:t>
            </a: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correlated with crop label — selected as model features  </a:t>
            </a: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Low inter-feature correlation </a:t>
            </a: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each feature contributes independent information to the model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498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C(a) — Data Preparation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0" y="13716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5 marks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85039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Selection — Why humidity, P, and N?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82296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correlation heatmap showed that humidity, P (Phosphorus), and N (Nitrogen) had the strongest correlation with label_encoded. K, temperature, ph, and rainfall showed weaker associations. Selecting the top 3 correlated features reduces noise and model complexity — a deliberate EDA-informed feature selection decision.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423160"/>
            <a:ext cx="2697480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2468880"/>
            <a:ext cx="2697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" y="2907792"/>
            <a:ext cx="2697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Matrix (X)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200400"/>
            <a:ext cx="2514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= df_clean[['humidity','P','N']]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features selected from EDA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2423160"/>
            <a:ext cx="2697480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2468880"/>
            <a:ext cx="2697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00400" y="2907792"/>
            <a:ext cx="2697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Vector (y)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200400"/>
            <a:ext cx="2514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= df_clean['label_encoded']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 crop classes (0–21)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2423160"/>
            <a:ext cx="2697480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80760" y="2468880"/>
            <a:ext cx="2697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8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080760" y="2907792"/>
            <a:ext cx="2697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/ Test Split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3200400"/>
            <a:ext cx="2514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train_test_split(X, y,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test_size=0.2, random_state=42)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1477 train · 369 test rows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069080"/>
            <a:ext cx="8503920" cy="804672"/>
          </a:xfrm>
          <a:prstGeom prst="rect">
            <a:avLst/>
          </a:prstGeom>
          <a:solidFill>
            <a:srgbClr val="FFF8EC"/>
          </a:solidFill>
          <a:ln w="12700">
            <a:solidFill>
              <a:srgbClr val="E8A8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069080"/>
            <a:ext cx="73152" cy="8046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96512"/>
            <a:ext cx="82296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Scaling: </a:t>
            </a:r>
            <a:r>
              <a:rPr lang="en-US" sz="11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Skipped — Random Forest and Decision Tree are tree-based algorithms that split data using feature thresholds, not distance. Unlike KNN or SVM, they are fully scale-invariant. X_train and X_test used directly.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498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C(b) — Primary Model: Random Forest Classifier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0" y="13716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10 marks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04672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Random Forest? Combines multiple decision trees to reduce overfitting. Robust to non-normally distributed data (confirmed by Shapiro-Wilk). Handles multiclass classification natively. Provides feature importance scores.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00200"/>
            <a:ext cx="73152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27632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1627632"/>
            <a:ext cx="6035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 of trees in the forest. More trees = better accuracy but slower training.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194560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94560"/>
            <a:ext cx="73152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21992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max_depth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2221992"/>
            <a:ext cx="6035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Maximum depth each tree can grow. Controls overfitting — deeper = more complex.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88920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88920"/>
            <a:ext cx="73152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16352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min_samples_split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2816352"/>
            <a:ext cx="6035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Minimum samples needed to split a node. Higher value = simpler, more generalised tree.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410712"/>
            <a:ext cx="8503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Hyperparameter Configurations Tested: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320040" y="3730752"/>
          <a:ext cx="8503920" cy="109728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645920"/>
                <a:gridCol w="2011680"/>
                <a:gridCol w="164592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Config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n_estimators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max_depth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min_samples_split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Accuracy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 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82.70%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 2 ★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84.05% ← BEST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 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83.74%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498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C(c) — Comparison Model: Decision Tree Classifier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0" y="13716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10 marks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04672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Decision Tree? Single tree — simpler and faster than Random Forest. Good interpretability. Also robust to non-normal data. Serves as a baseline to compare against the ensemble Random Forest model.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72768"/>
            <a:ext cx="73152" cy="5303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1848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max_depth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1618488"/>
            <a:ext cx="6035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Controls how deep the tree grows. Shallow = underfits; deep = overfits. Tested: 5, 10, 20.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194560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94560"/>
            <a:ext cx="73152" cy="5303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40280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max_leaf_nodes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2240280"/>
            <a:ext cx="6035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Limits total leaf nodes — an alternative pruning strategy to max_depth. Tested: 50, 100, 200.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907792"/>
            <a:ext cx="8503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Hyperparameter Configurations Tested: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320040" y="3218688"/>
          <a:ext cx="8503920" cy="1170432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560320"/>
                <a:gridCol w="192024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Config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max_depth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max_leaf_nodes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Accuracy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DT Model 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0.8000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DT Model 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0.87207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DT Model 3 ★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0.872973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498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D — Model Evaluation &amp; Comparison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0" y="13716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20 marks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Model Comparison Table (all 6 configurations)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20040" y="1097280"/>
          <a:ext cx="8503920" cy="2072640"/>
        </p:xfrm>
        <a:graphic>
          <a:graphicData uri="http://schemas.openxmlformats.org/drawingml/2006/table">
            <a:tbl>
              <a:tblPr/>
              <a:tblGrid>
                <a:gridCol w="1920240"/>
                <a:gridCol w="1645920"/>
                <a:gridCol w="1371600"/>
                <a:gridCol w="1371600"/>
                <a:gridCol w="1371600"/>
                <a:gridCol w="82296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Config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Accuracy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Precision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Recall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F1-Score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Random Forest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n=50, d=5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82.70%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82.7%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80.8%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Random Forest ★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n=100, d=10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84.05%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84.309%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83.783%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83.474%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Random Forest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n=200, d=20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83.74%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84.11%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83.78%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83.47%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Decision Tree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d=5, l=50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80.0%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81.4%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80.0%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77.77%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Decision Tree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d=10, l=100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87.0270%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87.7156%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87.0270%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86.9424%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Decision Tree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d=20, l=200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87.30%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88.0156%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87.2973%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86.974%</a:t>
                      </a: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7"/>
          <p:cNvSpPr/>
          <p:nvPr/>
        </p:nvSpPr>
        <p:spPr>
          <a:xfrm>
            <a:off x="320040" y="3401568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3401568"/>
            <a:ext cx="41605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401568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— Strengths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785616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Higher accuracy (84%) — averaging multiple trees reduces overfitting
• More stable predictions across different data samples
• Feature importance scores available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3401568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3401568"/>
            <a:ext cx="416052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3401568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Tree — Trade-offs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00600" y="3785616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Simpler and more interpretable — easier to explain
• Faster to train — single tree vs. hundreds of trees
• More prone to overfitting on training data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498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D(c) — Evaluation Visualizations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0" y="13716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5 marks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 1: Feature Importance — Random Forest (Best Config)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09728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806440" y="1097280"/>
            <a:ext cx="3017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6440" y="1097280"/>
            <a:ext cx="3017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10972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97880" y="1508760"/>
            <a:ext cx="2834640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Humidity (48%)
</a:t>
            </a:r>
            <a:r>
              <a:rPr lang="en-US" sz="10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discriminative feature. High humidity is strongly linked to specific crops like rice and jute.
</a:t>
            </a: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Phosphorus P (29%)
</a:t>
            </a:r>
            <a:r>
              <a:rPr lang="en-US" sz="10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Second most important. Soil P levels vary significantly across different crop families.
</a:t>
            </a: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Nitrogen N (23%)
</a:t>
            </a:r>
            <a:r>
              <a:rPr lang="en-US" sz="10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Third contributor. Different crops require different N levels for optimal growth.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3977640"/>
            <a:ext cx="8503920" cy="896112"/>
          </a:xfrm>
          <a:prstGeom prst="rect">
            <a:avLst/>
          </a:prstGeom>
          <a:solidFill>
            <a:srgbClr val="FFF8EC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" y="3977640"/>
            <a:ext cx="73152" cy="8961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4005072"/>
            <a:ext cx="822960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 2 — Confusion Matrix Heatmap: </a:t>
            </a: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to your notebook using: </a:t>
            </a:r>
            <a:r>
              <a:rPr lang="en-US" sz="110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sns.heatmap(confusion_matrix(y_test, y_pred), annot=True, fmt='d', cmap='Blues')</a:t>
            </a: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on the best RF model. This shows per-class prediction accuracy and which crops get confused.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31A45"/>
          </a:solidFill>
          <a:ln w="12700">
            <a:solidFill>
              <a:srgbClr val="131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Summary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274320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164592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353312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(n=100, depth=10) — 84.05% accuracy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65376"/>
            <a:ext cx="164592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65376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920240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Humidity is the most important predictor of crop suitability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32304"/>
            <a:ext cx="164592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32304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487168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2,200 records, 7 features, 22 crop classes — balanced &amp; clean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99232"/>
            <a:ext cx="164592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99232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3054096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IQR outlier removal, Label Encoding, 80/20 train-test split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164592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66160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Still Needed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3621024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classification_report() + confusion matrix to notebook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4507992"/>
            <a:ext cx="8503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10  ·  CSC1204 Machine Learning  ·  Uganda Christian University  ·  Easter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1270</Words>
  <Application>Microsoft Office PowerPoint</Application>
  <PresentationFormat>On-screen Show (16:9)</PresentationFormat>
  <Paragraphs>269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Recommendation ML Project - Group 10</dc:title>
  <dc:subject>PptxGenJS Presentation</dc:subject>
  <dc:creator>PptxGenJS</dc:creator>
  <cp:lastModifiedBy>HP</cp:lastModifiedBy>
  <cp:revision>5</cp:revision>
  <dcterms:created xsi:type="dcterms:W3CDTF">2026-04-14T04:11:00Z</dcterms:created>
  <dcterms:modified xsi:type="dcterms:W3CDTF">2026-04-14T06:01:59Z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93F9262BBBAC44A4A9BC8AC4A436C36F_12</vt:lpwstr>
  </property>
  <property fmtid="{D5CDD505-2E9C-101B-9397-08002B2CF9AE}" pid="3" name="KSOProductBuildVer">
    <vt:lpwstr>1033-12.2.0.23196</vt:lpwstr>
  </property>
</Properties>
</file>